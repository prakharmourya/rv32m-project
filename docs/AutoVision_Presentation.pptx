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 rIns="274320" bIns="73152"/>
          <a:lstStyle/>
          <a:p>
            <a:pPr algn="ctr">
              <a:defRPr sz="1000" b="1">
                <a:solidFill>
                  <a:srgbClr val="38BDF8"/>
                </a:solidFill>
                <a:latin typeface="Segoe UI"/>
              </a:defRPr>
            </a:pPr>
            <a:r>
              <a:t>SLIDE 1 OF 7  |  AUTOVISION-RISC-V SYSTEM SPECIFICATION</a:t>
            </a:r>
          </a:p>
          <a:p>
            <a:pPr>
              <a:defRPr sz="2100" b="1">
                <a:solidFill>
                  <a:srgbClr val="FFFFFF"/>
                </a:solidFill>
                <a:latin typeface="Segoe UI"/>
              </a:defRPr>
            </a:pPr>
            <a:r>
              <a:t>Project Overview &amp; Architectural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347472"/>
            <a:ext cx="3108960" cy="777240"/>
          </a:xfrm>
          <a:prstGeom prst="rect">
            <a:avLst/>
          </a:prstGeom>
          <a:noFill/>
        </p:spPr>
        <p:txBody>
          <a:bodyPr wrap="square" tIns="73152" rIns="182880">
            <a:spAutoFit/>
          </a:bodyPr>
          <a:lstStyle/>
          <a:p>
            <a:pPr algn="r">
              <a:defRPr sz="1100" b="1">
                <a:solidFill>
                  <a:srgbClr val="FBBF24"/>
                </a:solidFill>
                <a:latin typeface="Segoe UI"/>
              </a:defRPr>
            </a:pPr>
            <a:r>
              <a:t>GROUP 21  |  IIT GUWAHATI</a:t>
            </a:r>
          </a:p>
          <a:p>
            <a:pPr algn="r">
              <a:defRPr sz="950">
                <a:solidFill>
                  <a:srgbClr val="94A3B8"/>
                </a:solidFill>
                <a:latin typeface="Segoe UI"/>
              </a:defRPr>
            </a:pPr>
            <a:r>
              <a:t>Digilent Nexys A7-100T (XC7A100T)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98448"/>
            <a:ext cx="11277295" cy="1691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 rIns="228600"/>
          <a:lstStyle/>
          <a:p>
            <a:pPr algn="l">
              <a:defRPr sz="1050" b="1">
                <a:solidFill>
                  <a:srgbClr val="DC2626"/>
                </a:solidFill>
                <a:latin typeface="Segoe UI"/>
              </a:defRPr>
            </a:pPr>
            <a:r>
              <a:t>PROBLEM STATEMENT (1 LINE)</a:t>
            </a:r>
          </a:p>
          <a:p>
            <a:pPr algn="l">
              <a:spcAft>
                <a:spcPts val="800"/>
              </a:spcAft>
              <a:defRPr sz="1400" b="1">
                <a:solidFill>
                  <a:srgbClr val="0F172A"/>
                </a:solidFill>
                <a:latin typeface="Segoe UI"/>
              </a:defRPr>
            </a:pPr>
            <a:r>
              <a:t>Real-time edge ADAS demands deterministic &lt;16.6 ms spatial filtering and immediate emergency braking that exceeds pure software capabilities of embedded RISC-V cores.</a:t>
            </a:r>
          </a:p>
          <a:p>
            <a:pPr algn="l">
              <a:defRPr sz="1050" b="1">
                <a:solidFill>
                  <a:srgbClr val="1E40AF"/>
                </a:solidFill>
                <a:latin typeface="Segoe UI"/>
              </a:defRPr>
            </a:pPr>
            <a:r>
              <a:t>SYSTEM DESCRIPTION (2–3 LINES)</a:t>
            </a:r>
          </a:p>
          <a:p>
            <a:pPr algn="l">
              <a:defRPr sz="1300">
                <a:solidFill>
                  <a:srgbClr val="334155"/>
                </a:solidFill>
                <a:latin typeface="Segoe UI"/>
              </a:defRPr>
            </a:pPr>
            <a:r>
              <a:t>• AutoVision-RISC-V tightly couples a 3-stage RV32IM processor core with memory-mapped 2D spatial convolution accelerators and an Edge-AI geometric obstacle classifier on Nexys A7 FPGA.</a:t>
            </a:r>
            <a:br/>
            <a:r>
              <a:t>• Implements live split-screen 640x480 VGA rendering, hardware Galois LFSR cipher descrambling, and autonomous emergency braking (AEB) with visual multi-digit telemetry.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127248"/>
            <a:ext cx="3611880" cy="3337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594360" rIns="182880"/>
          <a:lstStyle/>
          <a:p>
            <a:pPr algn="l">
              <a:spcAft>
                <a:spcPts val="1000"/>
              </a:spcAft>
              <a:defRPr sz="1300">
                <a:latin typeface="Segoe UI"/>
              </a:defRPr>
            </a:pPr>
            <a:r>
              <a:rPr b="1" sz="1300">
                <a:solidFill>
                  <a:srgbClr val="059669"/>
                </a:solidFill>
              </a:rPr>
              <a:t>• 3-Stage RV32IM Core: </a:t>
            </a:r>
            <a:r>
              <a:rPr b="0" sz="1300">
                <a:solidFill>
                  <a:srgbClr val="334155"/>
                </a:solidFill>
              </a:rPr>
              <a:t>Functional IF/ID, EX, and WB pipeline with 1-cycle DSP multiplier, &lt;= 34-cycle non-restoring divider FSM, and zero-cycle RAW hazard forwarding.</a:t>
            </a:r>
          </a:p>
          <a:p>
            <a:pPr algn="l">
              <a:spcAft>
                <a:spcPts val="0"/>
              </a:spcAft>
              <a:defRPr sz="1300">
                <a:latin typeface="Segoe UI"/>
              </a:defRPr>
            </a:pPr>
            <a:r>
              <a:rPr b="1" sz="1300">
                <a:solidFill>
                  <a:srgbClr val="059669"/>
                </a:solidFill>
              </a:rPr>
              <a:t>• 2D Conv2D Engine: </a:t>
            </a:r>
            <a:r>
              <a:rPr b="0" sz="1300">
                <a:solidFill>
                  <a:srgbClr val="334155"/>
                </a:solidFill>
              </a:rPr>
              <a:t>Hardware 3x3 Sobel edge detector with dual circular BRAM line buffers (1 px/cyc) and live split-screen 640x480 VGA display on Nexys A7.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246120"/>
            <a:ext cx="3246120" cy="347472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ctr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COMMITMENT (MINIMUM ACCEPTABLE)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88536" y="3127248"/>
            <a:ext cx="3611880" cy="3337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594360" rIns="182880"/>
          <a:lstStyle/>
          <a:p>
            <a:pPr algn="l">
              <a:spcAft>
                <a:spcPts val="1000"/>
              </a:spcAft>
              <a:defRPr sz="1300">
                <a:latin typeface="Segoe UI"/>
              </a:defRPr>
            </a:pPr>
            <a:r>
              <a:rPr b="1" sz="1300">
                <a:solidFill>
                  <a:srgbClr val="1E40AF"/>
                </a:solidFill>
              </a:rPr>
              <a:t>• Edge-AI Classifier: </a:t>
            </a:r>
            <a:r>
              <a:rPr b="0" sz="1300">
                <a:solidFill>
                  <a:srgbClr val="334155"/>
                </a:solidFill>
              </a:rPr>
              <a:t>Real-time quadrant density sign classifier triggering physical AEB emergency brake trip on tri-color RGB LED.</a:t>
            </a:r>
          </a:p>
          <a:p>
            <a:pPr algn="l">
              <a:spcAft>
                <a:spcPts val="0"/>
              </a:spcAft>
              <a:defRPr sz="1300">
                <a:latin typeface="Segoe UI"/>
              </a:defRPr>
            </a:pPr>
            <a:r>
              <a:rPr b="1" sz="1300">
                <a:solidFill>
                  <a:srgbClr val="1E40AF"/>
                </a:solidFill>
              </a:rPr>
              <a:t>• UART Video Pipeline: </a:t>
            </a:r>
            <a:r>
              <a:rPr b="0" sz="1300">
                <a:solidFill>
                  <a:srgbClr val="334155"/>
                </a:solidFill>
              </a:rPr>
              <a:t>End-to-end 115200-baud frame streaming (160x120) with live 7-segment display and Host PC telemetry logging.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71416" y="3246120"/>
            <a:ext cx="3246120" cy="34747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ctr">
              <a:defRPr sz="1100" b="1">
                <a:solidFill>
                  <a:srgbClr val="1E40AF"/>
                </a:solidFill>
                <a:latin typeface="Segoe UI"/>
              </a:defRPr>
            </a:pPr>
            <a:r>
              <a:t>GOAL (EXPECTED TARGET)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3127248"/>
            <a:ext cx="3611880" cy="3337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594360" rIns="182880"/>
          <a:lstStyle/>
          <a:p>
            <a:pPr algn="l">
              <a:spcAft>
                <a:spcPts val="1000"/>
              </a:spcAft>
              <a:defRPr sz="1300">
                <a:latin typeface="Segoe UI"/>
              </a:defRPr>
            </a:pPr>
            <a:r>
              <a:rPr b="1" sz="1300">
                <a:solidFill>
                  <a:srgbClr val="7C3AED"/>
                </a:solidFill>
              </a:rPr>
              <a:t>• Hardware V2X Cipher: </a:t>
            </a:r>
            <a:r>
              <a:rPr b="0" sz="1300">
                <a:solidFill>
                  <a:srgbClr val="334155"/>
                </a:solidFill>
              </a:rPr>
              <a:t>16-bit Galois LFSR symmetric cryptographic stream cipher descrambler with modular AES-128 secure key interface for encrypted camera feeds.</a:t>
            </a:r>
          </a:p>
          <a:p>
            <a:pPr algn="l">
              <a:spcAft>
                <a:spcPts val="0"/>
              </a:spcAft>
              <a:defRPr sz="1300">
                <a:latin typeface="Segoe UI"/>
              </a:defRPr>
            </a:pPr>
            <a:r>
              <a:rPr b="1" sz="1300">
                <a:solidFill>
                  <a:srgbClr val="7C3AED"/>
                </a:solidFill>
              </a:rPr>
              <a:t>• Sub-Frame Latency: </a:t>
            </a:r>
            <a:r>
              <a:rPr b="0" sz="1300">
                <a:solidFill>
                  <a:srgbClr val="334155"/>
                </a:solidFill>
              </a:rPr>
              <a:t>Zero-wait-state DMA streaming pipeline achieving complete frame classification in &lt;16.6 ms (full 60 fps line rate).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02752" y="3246120"/>
            <a:ext cx="3246120" cy="347472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ctr">
              <a:defRPr sz="1100" b="1">
                <a:solidFill>
                  <a:srgbClr val="7C3AED"/>
                </a:solidFill>
                <a:latin typeface="Segoe UI"/>
              </a:defRPr>
            </a:pPr>
            <a:r>
              <a:t>STRETCH (ADVANCED TARGET)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 rIns="274320" bIns="73152"/>
          <a:lstStyle/>
          <a:p>
            <a:pPr algn="ctr">
              <a:defRPr sz="1000" b="1">
                <a:solidFill>
                  <a:srgbClr val="38BDF8"/>
                </a:solidFill>
                <a:latin typeface="Segoe UI"/>
              </a:defRPr>
            </a:pPr>
            <a:r>
              <a:t>SLIDE 2 OF 7  |  HANDWRITTEN MICROARCHITECTURE SCHEMATICS (REPORT FIG. 1 &amp; 2)</a:t>
            </a:r>
          </a:p>
          <a:p>
            <a:pPr>
              <a:defRPr sz="2100" b="1">
                <a:solidFill>
                  <a:srgbClr val="FFFFFF"/>
                </a:solidFill>
                <a:latin typeface="Segoe UI"/>
              </a:defRPr>
            </a:pPr>
            <a:r>
              <a:t>System Architecture: Processor Pipeline &amp; Coprocessors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347472"/>
            <a:ext cx="3108960" cy="777240"/>
          </a:xfrm>
          <a:prstGeom prst="rect">
            <a:avLst/>
          </a:prstGeom>
          <a:noFill/>
        </p:spPr>
        <p:txBody>
          <a:bodyPr wrap="square" tIns="73152" rIns="182880">
            <a:spAutoFit/>
          </a:bodyPr>
          <a:lstStyle/>
          <a:p>
            <a:pPr algn="r">
              <a:defRPr sz="1100" b="1">
                <a:solidFill>
                  <a:srgbClr val="FBBF24"/>
                </a:solidFill>
                <a:latin typeface="Segoe UI"/>
              </a:defRPr>
            </a:pPr>
            <a:r>
              <a:t>GROUP 21  |  IIT GUWAHATI</a:t>
            </a:r>
          </a:p>
          <a:p>
            <a:pPr algn="r">
              <a:defRPr sz="950">
                <a:solidFill>
                  <a:srgbClr val="94A3B8"/>
                </a:solidFill>
                <a:latin typeface="Segoe UI"/>
              </a:defRPr>
            </a:pPr>
            <a:r>
              <a:t>Digilent Nexys A7-100T (XC7A100T)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98448"/>
            <a:ext cx="5486400" cy="51937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371600"/>
            <a:ext cx="52120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ctr">
              <a:defRPr sz="1100" b="1">
                <a:solidFill>
                  <a:srgbClr val="1E40AF"/>
                </a:solidFill>
                <a:latin typeface="Segoe UI"/>
              </a:defRPr>
            </a:pPr>
            <a:r>
              <a:t>1. CORE PROCESSOR PIPELINE (STAGES 1–3)</a:t>
            </a:r>
          </a:p>
        </p:txBody>
      </p:sp>
      <p:pic>
        <p:nvPicPr>
          <p:cNvPr id="7" name="Picture 6" descr="handdrawn_core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1719072"/>
            <a:ext cx="4800600" cy="3108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4864608"/>
            <a:ext cx="5212080" cy="1554480"/>
          </a:xfrm>
          <a:prstGeom prst="rect">
            <a:avLst/>
          </a:prstGeom>
          <a:noFill/>
        </p:spPr>
        <p:txBody>
          <a:bodyPr wrap="square" tIns="36576">
            <a:spAutoFit/>
          </a:bodyPr>
          <a:lstStyle/>
          <a:p>
            <a:pPr algn="l">
              <a:spcAft>
                <a:spcPts val="300"/>
              </a:spcAft>
              <a:defRPr sz="1000">
                <a:latin typeface="Segoe UI"/>
              </a:defRPr>
            </a:pPr>
            <a:r>
              <a:rPr b="1" sz="1000">
                <a:solidFill>
                  <a:srgbClr val="1E40AF"/>
                </a:solidFill>
              </a:rPr>
              <a:t>• 3-Stage Pipeline: </a:t>
            </a:r>
            <a:r>
              <a:rPr b="0" sz="1000">
                <a:solidFill>
                  <a:srgbClr val="334155"/>
                </a:solidFill>
              </a:rPr>
              <a:t>16 KB I-BRAM, 32-reg regfile with internal bypass, 16 KB D-BRAM &amp; MMIO.</a:t>
            </a:r>
          </a:p>
          <a:p>
            <a:pPr algn="l">
              <a:spcAft>
                <a:spcPts val="300"/>
              </a:spcAft>
              <a:defRPr sz="1000">
                <a:latin typeface="Segoe UI"/>
              </a:defRPr>
            </a:pPr>
            <a:r>
              <a:rPr b="1" sz="1000">
                <a:solidFill>
                  <a:srgbClr val="1E40AF"/>
                </a:solidFill>
              </a:rPr>
              <a:t>• Coprocessors: </a:t>
            </a:r>
            <a:r>
              <a:rPr b="0" sz="1000">
                <a:solidFill>
                  <a:srgbClr val="334155"/>
                </a:solidFill>
              </a:rPr>
              <a:t>1-cyc DSP48E1 multiplier (MUL/MULH), &lt;=34 cyc divider FSM (DIV/DIVU).</a:t>
            </a:r>
          </a:p>
          <a:p>
            <a:pPr algn="l">
              <a:spcAft>
                <a:spcPts val="0"/>
              </a:spcAft>
              <a:defRPr sz="1000">
                <a:latin typeface="Segoe UI"/>
              </a:defRPr>
            </a:pPr>
            <a:r>
              <a:rPr b="1" sz="1000">
                <a:solidFill>
                  <a:srgbClr val="1E40AF"/>
                </a:solidFill>
              </a:rPr>
              <a:t>• Hazard Control: </a:t>
            </a:r>
            <a:r>
              <a:rPr b="0" sz="1000">
                <a:solidFill>
                  <a:srgbClr val="334155"/>
                </a:solidFill>
              </a:rPr>
              <a:t>Zero-penalty RAW bypass (WB -&gt; EX) and synchronous div_busy clock freeze.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352" y="1298448"/>
            <a:ext cx="5486400" cy="51937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82512" y="1371600"/>
            <a:ext cx="5212080" cy="29260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ctr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2. VISION ACCELERATOR &amp; PERIPHERAL SUBSYSTEM</a:t>
            </a:r>
          </a:p>
        </p:txBody>
      </p:sp>
      <p:pic>
        <p:nvPicPr>
          <p:cNvPr id="11" name="Picture 10" descr="handdrawn_vision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1719072"/>
            <a:ext cx="4343400" cy="31089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382512" y="4864608"/>
            <a:ext cx="5212080" cy="1554480"/>
          </a:xfrm>
          <a:prstGeom prst="rect">
            <a:avLst/>
          </a:prstGeom>
          <a:noFill/>
        </p:spPr>
        <p:txBody>
          <a:bodyPr wrap="square" tIns="36576">
            <a:spAutoFit/>
          </a:bodyPr>
          <a:lstStyle/>
          <a:p>
            <a:pPr algn="l">
              <a:spcAft>
                <a:spcPts val="300"/>
              </a:spcAft>
              <a:defRPr sz="1000">
                <a:latin typeface="Segoe UI"/>
              </a:defRPr>
            </a:pPr>
            <a:r>
              <a:rPr b="1" sz="1000">
                <a:solidFill>
                  <a:srgbClr val="059669"/>
                </a:solidFill>
              </a:rPr>
              <a:t>• Video Ingest: </a:t>
            </a:r>
            <a:r>
              <a:rPr b="0" sz="1000">
                <a:solidFill>
                  <a:srgbClr val="334155"/>
                </a:solidFill>
              </a:rPr>
              <a:t>115200-baud UART -&gt; 16-bit Galois LFSR descrambler -&gt; 19.2 KB frame store.</a:t>
            </a:r>
          </a:p>
          <a:p>
            <a:pPr algn="l">
              <a:spcAft>
                <a:spcPts val="300"/>
              </a:spcAft>
              <a:defRPr sz="1000">
                <a:latin typeface="Segoe UI"/>
              </a:defRPr>
            </a:pPr>
            <a:r>
              <a:rPr b="1" sz="1000">
                <a:solidFill>
                  <a:srgbClr val="059669"/>
                </a:solidFill>
              </a:rPr>
              <a:t>• 2D Spatial Filter: </a:t>
            </a:r>
            <a:r>
              <a:rPr b="0" sz="1000">
                <a:solidFill>
                  <a:srgbClr val="334155"/>
                </a:solidFill>
              </a:rPr>
              <a:t>Dual circular line buffers (320 B), 9-MAC Sobel filter at 1 px/cyc line rate.</a:t>
            </a:r>
          </a:p>
          <a:p>
            <a:pPr algn="l">
              <a:spcAft>
                <a:spcPts val="0"/>
              </a:spcAft>
              <a:defRPr sz="1000">
                <a:latin typeface="Segoe UI"/>
              </a:defRPr>
            </a:pPr>
            <a:r>
              <a:rPr b="1" sz="1000">
                <a:solidFill>
                  <a:srgbClr val="059669"/>
                </a:solidFill>
              </a:rPr>
              <a:t>• Edge-AI &amp; HUD: </a:t>
            </a:r>
            <a:r>
              <a:rPr b="0" sz="1000">
                <a:solidFill>
                  <a:srgbClr val="334155"/>
                </a:solidFill>
              </a:rPr>
              <a:t>Quadrant density classifier, AEB trip on RGB LED, split-screen 60 Hz VGA.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 rIns="274320" bIns="73152"/>
          <a:lstStyle/>
          <a:p>
            <a:pPr algn="ctr">
              <a:defRPr sz="1000" b="1">
                <a:solidFill>
                  <a:srgbClr val="38BDF8"/>
                </a:solidFill>
                <a:latin typeface="Segoe UI"/>
              </a:defRPr>
            </a:pPr>
            <a:r>
              <a:t>SLIDE 3 OF 7  |  HANDWRITTEN WAVEFORM EXECUTION TRACE (REPORT FIG. 3)</a:t>
            </a:r>
          </a:p>
          <a:p>
            <a:pPr>
              <a:defRPr sz="2100" b="1">
                <a:solidFill>
                  <a:srgbClr val="FFFFFF"/>
                </a:solidFill>
                <a:latin typeface="Segoe UI"/>
              </a:defRPr>
            </a:pPr>
            <a:r>
              <a:t>Cycle-Accurate Timing Diagram: Execution &amp; Hazards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347472"/>
            <a:ext cx="3108960" cy="777240"/>
          </a:xfrm>
          <a:prstGeom prst="rect">
            <a:avLst/>
          </a:prstGeom>
          <a:noFill/>
        </p:spPr>
        <p:txBody>
          <a:bodyPr wrap="square" tIns="73152" rIns="182880">
            <a:spAutoFit/>
          </a:bodyPr>
          <a:lstStyle/>
          <a:p>
            <a:pPr algn="r">
              <a:defRPr sz="1100" b="1">
                <a:solidFill>
                  <a:srgbClr val="FBBF24"/>
                </a:solidFill>
                <a:latin typeface="Segoe UI"/>
              </a:defRPr>
            </a:pPr>
            <a:r>
              <a:t>GROUP 21  |  IIT GUWAHATI</a:t>
            </a:r>
          </a:p>
          <a:p>
            <a:pPr algn="r">
              <a:defRPr sz="950">
                <a:solidFill>
                  <a:srgbClr val="94A3B8"/>
                </a:solidFill>
                <a:latin typeface="Segoe UI"/>
              </a:defRPr>
            </a:pPr>
            <a:r>
              <a:t>Digilent Nexys A7-100T (XC7A100T)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98448"/>
            <a:ext cx="11277295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54864"/>
          <a:lstStyle/>
          <a:p>
            <a:pPr algn="l">
              <a:defRPr sz="1000" b="1">
                <a:solidFill>
                  <a:srgbClr val="1E40AF"/>
                </a:solidFill>
                <a:latin typeface="Segoe UI"/>
              </a:defRPr>
            </a:pPr>
            <a:r>
              <a:t>REAL 25+ CYCLE ADAS INSTRUCTION SEQUENCE (VERIFIED IN AMD VIVADO 2025.2):</a:t>
            </a:r>
          </a:p>
          <a:p>
            <a:pPr algn="l">
              <a:defRPr sz="1200" b="1">
                <a:solidFill>
                  <a:srgbClr val="0F172A"/>
                </a:solidFill>
                <a:latin typeface="Segoe UI"/>
              </a:defRPr>
            </a:pPr>
            <a:r>
              <a:t>0x00: addi x1, 10  |  0x04: addi x2, 20  |  0x08: add x3, x1, x2 (RAW Forwarding, 0 stalls)  |  0x0C: mul x4, x1, x2 (1-Cyc DSP)  |  0x10: div x5, x4, x1 (&lt;=34 Cyc FSM Stall)  |  0x14: addi x6, x5, 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93392"/>
            <a:ext cx="11277295" cy="3364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2066543"/>
            <a:ext cx="2240280" cy="321868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/>
          <a:lstStyle/>
          <a:p>
            <a:pPr algn="l">
              <a:spcAft>
                <a:spcPts val="400"/>
              </a:spcAft>
              <a:defRPr sz="1050" b="1">
                <a:solidFill>
                  <a:srgbClr val="1E40AF"/>
                </a:solidFill>
                <a:latin typeface="Segoe UI"/>
              </a:defRPr>
            </a:pPr>
            <a:r>
              <a:t>SIGNAL GLOSSARY</a:t>
            </a:r>
          </a:p>
          <a:p>
            <a:pPr algn="l">
              <a:spcAft>
                <a:spcPts val="200"/>
              </a:spcAft>
              <a:defRPr sz="950">
                <a:latin typeface="Segoe UI"/>
              </a:defRPr>
            </a:pPr>
            <a:r>
              <a:rPr b="1" sz="950">
                <a:solidFill>
                  <a:srgbClr val="1E40AF"/>
                </a:solidFill>
              </a:rPr>
              <a:t>• Clk_50mhz: </a:t>
            </a:r>
            <a:r>
              <a:rPr b="0" sz="950">
                <a:solidFill>
                  <a:srgbClr val="334155"/>
                </a:solidFill>
              </a:rPr>
              <a:t>50 MHz Master Clock</a:t>
            </a:r>
          </a:p>
          <a:p>
            <a:pPr algn="l">
              <a:spcAft>
                <a:spcPts val="200"/>
              </a:spcAft>
              <a:defRPr sz="950">
                <a:latin typeface="Segoe UI"/>
              </a:defRPr>
            </a:pPr>
            <a:r>
              <a:rPr b="1" sz="950">
                <a:solidFill>
                  <a:srgbClr val="1E40AF"/>
                </a:solidFill>
              </a:rPr>
              <a:t>• PCF [31:0]: </a:t>
            </a:r>
            <a:r>
              <a:rPr b="0" sz="950">
                <a:solidFill>
                  <a:srgbClr val="334155"/>
                </a:solidFill>
              </a:rPr>
              <a:t>Program Counter (Fetch)</a:t>
            </a:r>
          </a:p>
          <a:p>
            <a:pPr algn="l">
              <a:spcAft>
                <a:spcPts val="200"/>
              </a:spcAft>
              <a:defRPr sz="950">
                <a:latin typeface="Segoe UI"/>
              </a:defRPr>
            </a:pPr>
            <a:r>
              <a:rPr b="1" sz="950">
                <a:solidFill>
                  <a:srgbClr val="1E40AF"/>
                </a:solidFill>
              </a:rPr>
              <a:t>• InstrF [31:0]: </a:t>
            </a:r>
            <a:r>
              <a:rPr b="0" sz="950">
                <a:solidFill>
                  <a:srgbClr val="334155"/>
                </a:solidFill>
              </a:rPr>
              <a:t>Fetched Instruction</a:t>
            </a:r>
          </a:p>
          <a:p>
            <a:pPr algn="l">
              <a:spcAft>
                <a:spcPts val="200"/>
              </a:spcAft>
              <a:defRPr sz="950">
                <a:latin typeface="Segoe UI"/>
              </a:defRPr>
            </a:pPr>
            <a:r>
              <a:rPr b="1" sz="950">
                <a:solidFill>
                  <a:srgbClr val="1E40AF"/>
                </a:solidFill>
              </a:rPr>
              <a:t>• ID/Ex stage: </a:t>
            </a:r>
            <a:r>
              <a:rPr b="0" sz="950">
                <a:solidFill>
                  <a:srgbClr val="334155"/>
                </a:solidFill>
              </a:rPr>
              <a:t>Execute Stage Opcode</a:t>
            </a:r>
          </a:p>
          <a:p>
            <a:pPr algn="l">
              <a:spcAft>
                <a:spcPts val="200"/>
              </a:spcAft>
              <a:defRPr sz="950">
                <a:latin typeface="Segoe UI"/>
              </a:defRPr>
            </a:pPr>
            <a:r>
              <a:rPr b="1" sz="950">
                <a:solidFill>
                  <a:srgbClr val="DC2626"/>
                </a:solidFill>
              </a:rPr>
              <a:t>• div_busy: </a:t>
            </a:r>
            <a:r>
              <a:rPr b="0" sz="950">
                <a:solidFill>
                  <a:srgbClr val="334155"/>
                </a:solidFill>
              </a:rPr>
              <a:t>Divider FSM Busy Flag</a:t>
            </a:r>
          </a:p>
          <a:p>
            <a:pPr algn="l">
              <a:spcAft>
                <a:spcPts val="0"/>
              </a:spcAft>
              <a:defRPr sz="950">
                <a:latin typeface="Segoe UI"/>
              </a:defRPr>
            </a:pPr>
            <a:r>
              <a:rPr b="1" sz="950">
                <a:solidFill>
                  <a:srgbClr val="DC2626"/>
                </a:solidFill>
              </a:rPr>
              <a:t>• Stall_PC: </a:t>
            </a:r>
            <a:r>
              <a:rPr b="0" sz="950">
                <a:solidFill>
                  <a:srgbClr val="334155"/>
                </a:solidFill>
              </a:rPr>
              <a:t>Freeze PC &amp; IF/ID Enable</a:t>
            </a:r>
          </a:p>
        </p:txBody>
      </p:sp>
      <p:pic>
        <p:nvPicPr>
          <p:cNvPr id="8" name="Picture 7" descr="handdrawn_timing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792" y="2066543"/>
            <a:ext cx="6217920" cy="32004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235440" y="2066543"/>
            <a:ext cx="2395728" cy="321868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/>
          <a:lstStyle/>
          <a:p>
            <a:pPr algn="l">
              <a:spcAft>
                <a:spcPts val="400"/>
              </a:spcAft>
              <a:defRPr sz="1050" b="1">
                <a:solidFill>
                  <a:srgbClr val="059669"/>
                </a:solidFill>
                <a:latin typeface="Segoe UI"/>
              </a:defRPr>
            </a:pPr>
            <a:r>
              <a:t>EXECUTION &amp; COMMITS</a:t>
            </a:r>
          </a:p>
          <a:p>
            <a:pPr algn="l">
              <a:spcAft>
                <a:spcPts val="200"/>
              </a:spcAft>
              <a:defRPr sz="950">
                <a:latin typeface="Segoe UI"/>
              </a:defRPr>
            </a:pPr>
            <a:r>
              <a:rPr b="1" sz="950">
                <a:solidFill>
                  <a:srgbClr val="059669"/>
                </a:solidFill>
              </a:rPr>
              <a:t>• C3 Commit: </a:t>
            </a:r>
            <a:r>
              <a:rPr b="0" sz="950">
                <a:solidFill>
                  <a:srgbClr val="334155"/>
                </a:solidFill>
              </a:rPr>
              <a:t>ResultW = x1 = 10</a:t>
            </a:r>
          </a:p>
          <a:p>
            <a:pPr algn="l">
              <a:spcAft>
                <a:spcPts val="200"/>
              </a:spcAft>
              <a:defRPr sz="950">
                <a:latin typeface="Segoe UI"/>
              </a:defRPr>
            </a:pPr>
            <a:r>
              <a:rPr b="1" sz="950">
                <a:solidFill>
                  <a:srgbClr val="1E40AF"/>
                </a:solidFill>
              </a:rPr>
              <a:t>• C4 RAW Bypass: </a:t>
            </a:r>
            <a:r>
              <a:rPr b="0" sz="950">
                <a:solidFill>
                  <a:srgbClr val="334155"/>
                </a:solidFill>
              </a:rPr>
              <a:t>ForwardBE = 2'b10 (x2 = 20)</a:t>
            </a:r>
          </a:p>
          <a:p>
            <a:pPr algn="l">
              <a:spcAft>
                <a:spcPts val="200"/>
              </a:spcAft>
              <a:defRPr sz="950">
                <a:latin typeface="Segoe UI"/>
              </a:defRPr>
            </a:pPr>
            <a:r>
              <a:rPr b="1" sz="950">
                <a:solidFill>
                  <a:srgbClr val="059669"/>
                </a:solidFill>
              </a:rPr>
              <a:t>• C5 1-Cyc DSP: </a:t>
            </a:r>
            <a:r>
              <a:rPr b="0" sz="950">
                <a:solidFill>
                  <a:srgbClr val="334155"/>
                </a:solidFill>
              </a:rPr>
              <a:t>mul x4 executes (x3 = 30)</a:t>
            </a:r>
          </a:p>
          <a:p>
            <a:pPr algn="l">
              <a:spcAft>
                <a:spcPts val="200"/>
              </a:spcAft>
              <a:defRPr sz="950">
                <a:latin typeface="Segoe UI"/>
              </a:defRPr>
            </a:pPr>
            <a:r>
              <a:rPr b="1" sz="950">
                <a:solidFill>
                  <a:srgbClr val="DC2626"/>
                </a:solidFill>
              </a:rPr>
              <a:t>• C6 Div Freeze: </a:t>
            </a:r>
            <a:r>
              <a:rPr b="0" sz="950">
                <a:solidFill>
                  <a:srgbClr val="334155"/>
                </a:solidFill>
              </a:rPr>
              <a:t>div x5 asserts div_busy=1</a:t>
            </a:r>
          </a:p>
          <a:p>
            <a:pPr algn="l">
              <a:spcAft>
                <a:spcPts val="200"/>
              </a:spcAft>
              <a:defRPr sz="950">
                <a:latin typeface="Segoe UI"/>
              </a:defRPr>
            </a:pPr>
            <a:r>
              <a:rPr b="1" sz="950">
                <a:solidFill>
                  <a:srgbClr val="059669"/>
                </a:solidFill>
              </a:rPr>
              <a:t>• C39 Div Commit: </a:t>
            </a:r>
            <a:r>
              <a:rPr b="0" sz="950">
                <a:solidFill>
                  <a:srgbClr val="334155"/>
                </a:solidFill>
              </a:rPr>
              <a:t>ResultW = x5 = 20 -&gt; x6</a:t>
            </a:r>
          </a:p>
          <a:p>
            <a:pPr algn="l">
              <a:spcAft>
                <a:spcPts val="0"/>
              </a:spcAft>
              <a:defRPr sz="950">
                <a:latin typeface="Segoe UI"/>
              </a:defRPr>
            </a:pPr>
            <a:r>
              <a:rPr b="1" sz="950">
                <a:solidFill>
                  <a:srgbClr val="059669"/>
                </a:solidFill>
              </a:rPr>
              <a:t>• C40 Final Add: </a:t>
            </a:r>
            <a:r>
              <a:rPr b="0" sz="950">
                <a:solidFill>
                  <a:srgbClr val="334155"/>
                </a:solidFill>
              </a:rPr>
              <a:t>ResultW = x6 = 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5449824"/>
            <a:ext cx="361188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l">
              <a:defRPr sz="1100" b="1">
                <a:solidFill>
                  <a:srgbClr val="1E40AF"/>
                </a:solidFill>
                <a:latin typeface="Segoe UI"/>
              </a:defRPr>
            </a:pPr>
            <a:r>
              <a:t>1. ZERO-CYCLE RAW FORWARDING</a:t>
            </a:r>
          </a:p>
          <a:p>
            <a:pPr algn="l">
              <a:defRPr sz="1150">
                <a:solidFill>
                  <a:srgbClr val="334155"/>
                </a:solidFill>
                <a:latin typeface="Segoe UI"/>
              </a:defRPr>
            </a:pPr>
            <a:r>
              <a:t>At Cycle 4, add depends on x2. Hazard Unit asserts ForwardBE = 2'b10, bypassing ResultW (20) directly into ALU with 0 stall cycles.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88536" y="5449824"/>
            <a:ext cx="361188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l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2. MULTI-CYCLE DIVIDER FREEZE</a:t>
            </a:r>
          </a:p>
          <a:p>
            <a:pPr algn="l">
              <a:defRPr sz="1150">
                <a:solidFill>
                  <a:srgbClr val="334155"/>
                </a:solidFill>
                <a:latin typeface="Segoe UI"/>
              </a:defRPr>
            </a:pPr>
            <a:r>
              <a:t>At Cycle 6, div x5 asserts div_busy=1 &amp; Stall_PC=1. Clock enables freeze PC &amp; IF/ID for 32 cycles while WB commits bubbles.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9872" y="5449824"/>
            <a:ext cx="361188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l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3. 1-CYC DSP MUL &amp; COMMIT</a:t>
            </a:r>
          </a:p>
          <a:p>
            <a:pPr algn="l">
              <a:defRPr sz="1150">
                <a:solidFill>
                  <a:srgbClr val="334155"/>
                </a:solidFill>
                <a:latin typeface="Segoe UI"/>
              </a:defRPr>
            </a:pPr>
            <a:r>
              <a:t>mul x4 completes in 1 cycle via DSP48E1. At Cycle 39, the final quotient x5=20 is bypassed via ForwardAE=2'b10 into addi x6.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 rIns="274320" bIns="73152"/>
          <a:lstStyle/>
          <a:p>
            <a:pPr algn="ctr">
              <a:defRPr sz="1000" b="1">
                <a:solidFill>
                  <a:srgbClr val="38BDF8"/>
                </a:solidFill>
                <a:latin typeface="Segoe UI"/>
              </a:defRPr>
            </a:pPr>
            <a:r>
              <a:t>SLIDE 4 OF 7  |  CONCRETE METHODOLOGY &amp; SIMULATION COVERAGE</a:t>
            </a:r>
          </a:p>
          <a:p>
            <a:pPr>
              <a:defRPr sz="2100" b="1">
                <a:solidFill>
                  <a:srgbClr val="FFFFFF"/>
                </a:solidFill>
                <a:latin typeface="Segoe UI"/>
              </a:defRPr>
            </a:pPr>
            <a:r>
              <a:t>Design Implementation &amp; Multi-Tier Verification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347472"/>
            <a:ext cx="3108960" cy="777240"/>
          </a:xfrm>
          <a:prstGeom prst="rect">
            <a:avLst/>
          </a:prstGeom>
          <a:noFill/>
        </p:spPr>
        <p:txBody>
          <a:bodyPr wrap="square" tIns="73152" rIns="182880">
            <a:spAutoFit/>
          </a:bodyPr>
          <a:lstStyle/>
          <a:p>
            <a:pPr algn="r">
              <a:defRPr sz="1100" b="1">
                <a:solidFill>
                  <a:srgbClr val="FBBF24"/>
                </a:solidFill>
                <a:latin typeface="Segoe UI"/>
              </a:defRPr>
            </a:pPr>
            <a:r>
              <a:t>GROUP 21  |  IIT GUWAHATI</a:t>
            </a:r>
          </a:p>
          <a:p>
            <a:pPr algn="r">
              <a:defRPr sz="950">
                <a:solidFill>
                  <a:srgbClr val="94A3B8"/>
                </a:solidFill>
                <a:latin typeface="Segoe UI"/>
              </a:defRPr>
            </a:pPr>
            <a:r>
              <a:t>Digilent Nexys A7-100T (XC7A100T)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98448"/>
            <a:ext cx="5486400" cy="5212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530352" rIns="228600"/>
          <a:lstStyle/>
          <a:p>
            <a:pPr algn="l">
              <a:spcAft>
                <a:spcPts val="600"/>
              </a:spcAft>
              <a:defRPr sz="1150">
                <a:latin typeface="Segoe UI"/>
              </a:defRPr>
            </a:pPr>
            <a:r>
              <a:rPr b="1" sz="1150">
                <a:solidFill>
                  <a:srgbClr val="1E40AF"/>
                </a:solidFill>
              </a:rPr>
              <a:t>• Phase 1: Core Arithmetic &amp; Hazards </a:t>
            </a:r>
            <a:r>
              <a:rPr b="0" sz="1150">
                <a:solidFill>
                  <a:srgbClr val="334155"/>
                </a:solidFill>
              </a:rPr>
              <a:t>RV32I ALU + 1-cycle DSP multiplier + divider FSM + RAW forwarding unit.
  Gate Deliverable: Passed tb_multiplier.v &amp; tb_divider.v (10,000 cyc).</a:t>
            </a:r>
          </a:p>
          <a:p>
            <a:pPr algn="l">
              <a:spcAft>
                <a:spcPts val="600"/>
              </a:spcAft>
              <a:defRPr sz="1150">
                <a:latin typeface="Segoe UI"/>
              </a:defRPr>
            </a:pPr>
            <a:r>
              <a:rPr b="1" sz="1150">
                <a:solidFill>
                  <a:srgbClr val="1E40AF"/>
                </a:solidFill>
              </a:rPr>
              <a:t>• Phase 2: Vision Acceleration Datapath </a:t>
            </a:r>
            <a:r>
              <a:rPr b="0" sz="1150">
                <a:solidFill>
                  <a:srgbClr val="334155"/>
                </a:solidFill>
              </a:rPr>
              <a:t>Dual circular BRAM line buffers (320 B) + 9-MAC Conv2D engine (1 px/cyc).
  Gate Deliverable: Passed tb_conv2d.v streaming testbench.</a:t>
            </a:r>
          </a:p>
          <a:p>
            <a:pPr algn="l">
              <a:spcAft>
                <a:spcPts val="600"/>
              </a:spcAft>
              <a:defRPr sz="1150">
                <a:latin typeface="Segoe UI"/>
              </a:defRPr>
            </a:pPr>
            <a:r>
              <a:rPr b="1" sz="1150">
                <a:solidFill>
                  <a:srgbClr val="1E40AF"/>
                </a:solidFill>
              </a:rPr>
              <a:t>• Phase 3: Video RAM &amp; Split-Screen VGA </a:t>
            </a:r>
            <a:r>
              <a:rPr b="0" sz="1150">
                <a:solidFill>
                  <a:srgbClr val="334155"/>
                </a:solidFill>
              </a:rPr>
              <a:t>True dual-port VRAM (19.2 KB) + 640x480 @ 60 Hz VGA controller + Edge-AI.
  Gate Deliverable: Passed dual-clock split-screen simulation.</a:t>
            </a:r>
          </a:p>
          <a:p>
            <a:pPr algn="l">
              <a:spcAft>
                <a:spcPts val="0"/>
              </a:spcAft>
              <a:defRPr sz="1150">
                <a:latin typeface="Segoe UI"/>
              </a:defRPr>
            </a:pPr>
            <a:r>
              <a:rPr b="1" sz="1150">
                <a:solidFill>
                  <a:srgbClr val="1E40AF"/>
                </a:solidFill>
              </a:rPr>
              <a:t>• Phase 4: Full SoC Integration &amp; Bitstream </a:t>
            </a:r>
            <a:r>
              <a:rPr b="0" sz="1150">
                <a:solidFill>
                  <a:srgbClr val="334155"/>
                </a:solidFill>
              </a:rPr>
              <a:t>32-bit MMIO crossbar connecting core, VRAM, and peripherals on Nexys A7.
  Gate Deliverable: Passed tb_autovision_soc.v &amp; bitstream generated.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5120640" cy="34747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ctr">
              <a:defRPr sz="1100" b="1">
                <a:solidFill>
                  <a:srgbClr val="1E40AF"/>
                </a:solidFill>
                <a:latin typeface="Segoe UI"/>
              </a:defRPr>
            </a:pPr>
            <a:r>
              <a:t>IMPLEMENTATION PLAN (4 CONCRETE PHASES)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5352" y="1298448"/>
            <a:ext cx="5486400" cy="5212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530352" rIns="228600"/>
          <a:lstStyle/>
          <a:p>
            <a:pPr algn="l">
              <a:spcAft>
                <a:spcPts val="600"/>
              </a:spcAft>
              <a:defRPr sz="1100">
                <a:latin typeface="Segoe UI"/>
              </a:defRPr>
            </a:pPr>
            <a:r>
              <a:rPr b="1" sz="1100">
                <a:solidFill>
                  <a:srgbClr val="059669"/>
                </a:solidFill>
              </a:rPr>
              <a:t>• Tier 1: Unit-Level Verification (Bit-Exact RTL vs Python) </a:t>
            </a:r>
            <a:r>
              <a:rPr b="0" sz="1100">
                <a:solidFill>
                  <a:srgbClr val="334155"/>
                </a:solidFill>
              </a:rPr>
              <a:t>
  – Multiplier: 10,000 randomized 32-bit signed/unsigned multiplications.
  – Divider: Cycle-accurate non-restoring quotient convergence.
  – Conv2D: Sobel Gx/Gy edge gradients verified on synthetic patterns.</a:t>
            </a:r>
          </a:p>
          <a:p>
            <a:pPr algn="l">
              <a:spcAft>
                <a:spcPts val="600"/>
              </a:spcAft>
              <a:defRPr sz="1100">
                <a:latin typeface="Segoe UI"/>
              </a:defRPr>
            </a:pPr>
            <a:r>
              <a:rPr b="1" sz="1100">
                <a:solidFill>
                  <a:srgbClr val="059669"/>
                </a:solidFill>
              </a:rPr>
              <a:t>• Tier 2: Edge-Case Corner Handling (Hardware Boundary Tests) </a:t>
            </a:r>
            <a:r>
              <a:rPr b="0" sz="1100">
                <a:solidFill>
                  <a:srgbClr val="334155"/>
                </a:solidFill>
              </a:rPr>
              <a:t>
  – Divide-by-zero (x/0 = -1) and signed overflow (-2^31 / -1).
  – Boundary clipping: Discarding padding pixels outside 160x120 frame.
  – Pipeline hazards: Back-to-back RAW dependencies with zero bubbles.</a:t>
            </a:r>
          </a:p>
          <a:p>
            <a:pPr algn="l">
              <a:spcAft>
                <a:spcPts val="0"/>
              </a:spcAft>
              <a:defRPr sz="1100">
                <a:latin typeface="Segoe UI"/>
              </a:defRPr>
            </a:pPr>
            <a:r>
              <a:rPr b="1" sz="1100">
                <a:solidFill>
                  <a:srgbClr val="059669"/>
                </a:solidFill>
              </a:rPr>
              <a:t>• Tier 3: Processor &amp; System Integration (C Firmware on Core) </a:t>
            </a:r>
            <a:r>
              <a:rPr b="0" sz="1100">
                <a:solidFill>
                  <a:srgbClr val="334155"/>
                </a:solidFill>
              </a:rPr>
              <a:t>
  – Perception runtime (adas_runtime.c) compiled via RISC-V GCC.
  – Validates MMIO loops, &lt;16.6 ms AEB trip, and UART camera reception.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28232" y="1417320"/>
            <a:ext cx="5120640" cy="347472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ctr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VERIFICATION PLAN (3-TIER VALIDATION)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 rIns="274320" bIns="73152"/>
          <a:lstStyle/>
          <a:p>
            <a:pPr algn="ctr">
              <a:defRPr sz="1000" b="1">
                <a:solidFill>
                  <a:srgbClr val="38BDF8"/>
                </a:solidFill>
                <a:latin typeface="Segoe UI"/>
              </a:defRPr>
            </a:pPr>
            <a:r>
              <a:t>SLIDE 5 OF 7  |  RIGOROUS 5-WEEK PLAN (OCT 1 – NOV 8) WITH HARD QUALITY GATES</a:t>
            </a:r>
          </a:p>
          <a:p>
            <a:pPr>
              <a:defRPr sz="2100" b="1">
                <a:solidFill>
                  <a:srgbClr val="FFFFFF"/>
                </a:solidFill>
                <a:latin typeface="Segoe UI"/>
              </a:defRPr>
            </a:pPr>
            <a:r>
              <a:t>Project Schedule, Milestones &amp; Deadlines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347472"/>
            <a:ext cx="3108960" cy="777240"/>
          </a:xfrm>
          <a:prstGeom prst="rect">
            <a:avLst/>
          </a:prstGeom>
          <a:noFill/>
        </p:spPr>
        <p:txBody>
          <a:bodyPr wrap="square" tIns="73152" rIns="182880">
            <a:spAutoFit/>
          </a:bodyPr>
          <a:lstStyle/>
          <a:p>
            <a:pPr algn="r">
              <a:defRPr sz="1100" b="1">
                <a:solidFill>
                  <a:srgbClr val="FBBF24"/>
                </a:solidFill>
                <a:latin typeface="Segoe UI"/>
              </a:defRPr>
            </a:pPr>
            <a:r>
              <a:t>GROUP 21  |  IIT GUWAHATI</a:t>
            </a:r>
          </a:p>
          <a:p>
            <a:pPr algn="r">
              <a:defRPr sz="950">
                <a:solidFill>
                  <a:srgbClr val="94A3B8"/>
                </a:solidFill>
                <a:latin typeface="Segoe UI"/>
              </a:defRPr>
            </a:pPr>
            <a:r>
              <a:t>Digilent Nexys A7-100T (XC7A100T)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98448"/>
            <a:ext cx="548640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l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MILESTONE 1 (BY 25 OCT): CORE &amp; ACCELERATORS TESTED</a:t>
            </a:r>
          </a:p>
          <a:p>
            <a:pPr algn="l">
              <a:defRPr sz="1300">
                <a:solidFill>
                  <a:srgbClr val="0F172A"/>
                </a:solidFill>
                <a:latin typeface="Segoe UI"/>
              </a:defRPr>
            </a:pPr>
            <a:r>
              <a:t>At least one module implemented + verified: Single-cycle DSP multiplier, divider FSM (&lt;=34 cyc), and 2D Conv2D line buffer passed in simulation.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5352" y="1298448"/>
            <a:ext cx="548640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l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MILESTONE 2 (BY 1 NOV): MINIMUM SYSTEM WORKING</a:t>
            </a:r>
          </a:p>
          <a:p>
            <a:pPr algn="l">
              <a:defRPr sz="1300">
                <a:solidFill>
                  <a:srgbClr val="0F172A"/>
                </a:solidFill>
                <a:latin typeface="Segoe UI"/>
              </a:defRPr>
            </a:pPr>
            <a:r>
              <a:t>Minimum system operational: 3-stage RV32IM core integrated with MMIO crossbar, video BRAM, and split-screen 640x480 VGA display on Nexys A7 FPGA.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450592"/>
            <a:ext cx="3611880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502920"/>
          <a:lstStyle/>
          <a:p>
            <a:pPr algn="l">
              <a:spcAft>
                <a:spcPts val="600"/>
              </a:spcAft>
              <a:defRPr sz="1050" b="1">
                <a:solidFill>
                  <a:srgbClr val="64748B"/>
                </a:solidFill>
                <a:latin typeface="Segoe UI"/>
              </a:defRPr>
            </a:pPr>
            <a:r>
              <a:t>OCT 1 – OCT 25 (WEEKS 1–3)</a:t>
            </a:r>
          </a:p>
          <a:p>
            <a:pPr algn="l">
              <a:spcAft>
                <a:spcPts val="500"/>
              </a:spcAft>
              <a:defRPr sz="1300">
                <a:latin typeface="Segoe UI"/>
              </a:defRPr>
            </a:pPr>
            <a:r>
              <a:rPr b="1" sz="1300">
                <a:solidFill>
                  <a:srgbClr val="1E40AF"/>
                </a:solidFill>
              </a:rPr>
              <a:t>• Oct 1–5: </a:t>
            </a:r>
            <a:r>
              <a:rPr b="0" sz="1300">
                <a:solidFill>
                  <a:srgbClr val="334155"/>
                </a:solidFill>
              </a:rPr>
              <a:t>Microarchitecture &amp; ISA specification freeze.</a:t>
            </a:r>
          </a:p>
          <a:p>
            <a:pPr algn="l">
              <a:spcAft>
                <a:spcPts val="500"/>
              </a:spcAft>
              <a:defRPr sz="1300">
                <a:latin typeface="Segoe UI"/>
              </a:defRPr>
            </a:pPr>
            <a:r>
              <a:rPr b="1" sz="1300">
                <a:solidFill>
                  <a:srgbClr val="1E40AF"/>
                </a:solidFill>
              </a:rPr>
              <a:t>• Oct 6–15: </a:t>
            </a:r>
            <a:r>
              <a:rPr b="0" sz="1300">
                <a:solidFill>
                  <a:srgbClr val="334155"/>
                </a:solidFill>
              </a:rPr>
              <a:t>DSP multiplier, non-restoring divider FSM, and dual line buffer RTL.</a:t>
            </a:r>
          </a:p>
          <a:p>
            <a:pPr algn="l">
              <a:spcAft>
                <a:spcPts val="500"/>
              </a:spcAft>
              <a:defRPr sz="1300">
                <a:latin typeface="Segoe UI"/>
              </a:defRPr>
            </a:pPr>
            <a:r>
              <a:rPr b="1" sz="1300">
                <a:solidFill>
                  <a:srgbClr val="1E40AF"/>
                </a:solidFill>
              </a:rPr>
              <a:t>• Oct 16–25: </a:t>
            </a:r>
            <a:r>
              <a:rPr b="0" sz="1300">
                <a:solidFill>
                  <a:srgbClr val="334155"/>
                </a:solidFill>
              </a:rPr>
              <a:t>3x3 MAC Conv2D engine RTL and Hazard unit forwarding logic.</a:t>
            </a:r>
          </a:p>
          <a:p>
            <a:pPr algn="l">
              <a:spcAft>
                <a:spcPts val="0"/>
              </a:spcAft>
              <a:defRPr sz="1300">
                <a:latin typeface="Segoe UI"/>
              </a:defRPr>
            </a:pPr>
            <a:r>
              <a:rPr b="1" sz="1300">
                <a:solidFill>
                  <a:srgbClr val="D97706"/>
                </a:solidFill>
              </a:rPr>
              <a:t>• Gate Check: </a:t>
            </a:r>
            <a:r>
              <a:rPr b="0" sz="1300">
                <a:solidFill>
                  <a:srgbClr val="0F172A"/>
                </a:solidFill>
              </a:rPr>
              <a:t>tb_multiplier, tb_divider, and tb_conv2d 100% test pass rate.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560320"/>
            <a:ext cx="333756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ctr">
              <a:defRPr sz="1100" b="1">
                <a:solidFill>
                  <a:srgbClr val="1E40AF"/>
                </a:solidFill>
                <a:latin typeface="Segoe UI"/>
              </a:defRPr>
            </a:pPr>
            <a:r>
              <a:t>PHASE 1: UNIT RTL &amp; TESTS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88536" y="2450592"/>
            <a:ext cx="3611880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502920"/>
          <a:lstStyle/>
          <a:p>
            <a:pPr algn="l">
              <a:spcAft>
                <a:spcPts val="600"/>
              </a:spcAft>
              <a:defRPr sz="1050" b="1">
                <a:solidFill>
                  <a:srgbClr val="64748B"/>
                </a:solidFill>
                <a:latin typeface="Segoe UI"/>
              </a:defRPr>
            </a:pPr>
            <a:r>
              <a:t>OCT 26 – NOV 1 (WEEK 4)</a:t>
            </a:r>
          </a:p>
          <a:p>
            <a:pPr algn="l">
              <a:spcAft>
                <a:spcPts val="500"/>
              </a:spcAft>
              <a:defRPr sz="1300">
                <a:latin typeface="Segoe UI"/>
              </a:defRPr>
            </a:pPr>
            <a:r>
              <a:rPr b="1" sz="1300">
                <a:solidFill>
                  <a:srgbClr val="059669"/>
                </a:solidFill>
              </a:rPr>
              <a:t>• Oct 26–28: </a:t>
            </a:r>
            <a:r>
              <a:rPr b="0" sz="1300">
                <a:solidFill>
                  <a:srgbClr val="334155"/>
                </a:solidFill>
              </a:rPr>
              <a:t>32-bit MMIO crossbar interconnect connecting core and VRAM.</a:t>
            </a:r>
          </a:p>
          <a:p>
            <a:pPr algn="l">
              <a:spcAft>
                <a:spcPts val="500"/>
              </a:spcAft>
              <a:defRPr sz="1300">
                <a:latin typeface="Segoe UI"/>
              </a:defRPr>
            </a:pPr>
            <a:r>
              <a:rPr b="1" sz="1300">
                <a:solidFill>
                  <a:srgbClr val="059669"/>
                </a:solidFill>
              </a:rPr>
              <a:t>• Oct 29–30: </a:t>
            </a:r>
            <a:r>
              <a:rPr b="0" sz="1300">
                <a:solidFill>
                  <a:srgbClr val="334155"/>
                </a:solidFill>
              </a:rPr>
              <a:t>True dual-port video BRAM (19.2 KB) + 640x480 VGA controller.</a:t>
            </a:r>
          </a:p>
          <a:p>
            <a:pPr algn="l">
              <a:spcAft>
                <a:spcPts val="500"/>
              </a:spcAft>
              <a:defRPr sz="1300">
                <a:latin typeface="Segoe UI"/>
              </a:defRPr>
            </a:pPr>
            <a:r>
              <a:rPr b="1" sz="1300">
                <a:solidFill>
                  <a:srgbClr val="059669"/>
                </a:solidFill>
              </a:rPr>
              <a:t>• Oct 31–Nov 1: </a:t>
            </a:r>
            <a:r>
              <a:rPr b="0" sz="1300">
                <a:solidFill>
                  <a:srgbClr val="334155"/>
                </a:solidFill>
              </a:rPr>
              <a:t>Vivado Synthesis, Place &amp; Route, and timing closure at 50 MHz.</a:t>
            </a:r>
          </a:p>
          <a:p>
            <a:pPr algn="l">
              <a:spcAft>
                <a:spcPts val="0"/>
              </a:spcAft>
              <a:defRPr sz="1300">
                <a:latin typeface="Segoe UI"/>
              </a:defRPr>
            </a:pPr>
            <a:r>
              <a:rPr b="1" sz="1300">
                <a:solidFill>
                  <a:srgbClr val="059669"/>
                </a:solidFill>
              </a:rPr>
              <a:t>• Gate Check: </a:t>
            </a:r>
            <a:r>
              <a:rPr b="0" sz="1300">
                <a:solidFill>
                  <a:srgbClr val="0F172A"/>
                </a:solidFill>
              </a:rPr>
              <a:t>Bitstream running on Nexys A7 FPGA with live split-screen VGA.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5696" y="2560320"/>
            <a:ext cx="3337560" cy="3200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ctr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PHASE 2: SOC INTEGRATION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2" y="2450592"/>
            <a:ext cx="3611880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502920"/>
          <a:lstStyle/>
          <a:p>
            <a:pPr algn="l">
              <a:spcAft>
                <a:spcPts val="600"/>
              </a:spcAft>
              <a:defRPr sz="1050" b="1">
                <a:solidFill>
                  <a:srgbClr val="64748B"/>
                </a:solidFill>
                <a:latin typeface="Segoe UI"/>
              </a:defRPr>
            </a:pPr>
            <a:r>
              <a:t>NOV 2 – NOV 8 (WEEK 5)</a:t>
            </a:r>
          </a:p>
          <a:p>
            <a:pPr algn="l">
              <a:spcAft>
                <a:spcPts val="500"/>
              </a:spcAft>
              <a:defRPr sz="1300">
                <a:latin typeface="Segoe UI"/>
              </a:defRPr>
            </a:pPr>
            <a:r>
              <a:rPr b="1" sz="1300">
                <a:solidFill>
                  <a:srgbClr val="7C3AED"/>
                </a:solidFill>
              </a:rPr>
              <a:t>• Nov 2–4: </a:t>
            </a:r>
            <a:r>
              <a:rPr b="0" sz="1300">
                <a:solidFill>
                  <a:srgbClr val="334155"/>
                </a:solidFill>
              </a:rPr>
              <a:t>Edge-AI quadrant classifier &amp; AEB emergency brake trip logic.</a:t>
            </a:r>
          </a:p>
          <a:p>
            <a:pPr algn="l">
              <a:spcAft>
                <a:spcPts val="500"/>
              </a:spcAft>
              <a:defRPr sz="1300">
                <a:latin typeface="Segoe UI"/>
              </a:defRPr>
            </a:pPr>
            <a:r>
              <a:rPr b="1" sz="1300">
                <a:solidFill>
                  <a:srgbClr val="7C3AED"/>
                </a:solidFill>
              </a:rPr>
              <a:t>• Nov 5–6: </a:t>
            </a:r>
            <a:r>
              <a:rPr b="0" sz="1300">
                <a:solidFill>
                  <a:srgbClr val="334155"/>
                </a:solidFill>
              </a:rPr>
              <a:t>16-bit Galois LFSR descrambler &amp; 7-segment display telemetry.</a:t>
            </a:r>
          </a:p>
          <a:p>
            <a:pPr algn="l">
              <a:spcAft>
                <a:spcPts val="500"/>
              </a:spcAft>
              <a:defRPr sz="1300">
                <a:latin typeface="Segoe UI"/>
              </a:defRPr>
            </a:pPr>
            <a:r>
              <a:rPr b="1" sz="1300">
                <a:solidFill>
                  <a:srgbClr val="7C3AED"/>
                </a:solidFill>
              </a:rPr>
              <a:t>• Nov 7–8: </a:t>
            </a:r>
            <a:r>
              <a:rPr b="0" sz="1300">
                <a:solidFill>
                  <a:srgbClr val="334155"/>
                </a:solidFill>
              </a:rPr>
              <a:t>End-to-end UART camera streaming from Host PC + AEB demo.</a:t>
            </a:r>
          </a:p>
          <a:p>
            <a:pPr algn="l">
              <a:spcAft>
                <a:spcPts val="0"/>
              </a:spcAft>
              <a:defRPr sz="1300">
                <a:latin typeface="Segoe UI"/>
              </a:defRPr>
            </a:pPr>
            <a:r>
              <a:rPr b="1" sz="1300">
                <a:solidFill>
                  <a:srgbClr val="1E40AF"/>
                </a:solidFill>
              </a:rPr>
              <a:t>• Gate Check: </a:t>
            </a:r>
            <a:r>
              <a:rPr b="0" sz="1300">
                <a:solidFill>
                  <a:srgbClr val="0F172A"/>
                </a:solidFill>
              </a:rPr>
              <a:t>100% functional live board demo for course evaluation.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57031" y="2560320"/>
            <a:ext cx="3337560" cy="32004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ctr">
              <a:defRPr sz="1100" b="1">
                <a:solidFill>
                  <a:srgbClr val="7C3AED"/>
                </a:solidFill>
                <a:latin typeface="Segoe UI"/>
              </a:defRPr>
            </a:pPr>
            <a:r>
              <a:t>PHASE 3: PERIPHERALS &amp; DEMO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 rIns="274320" bIns="73152"/>
          <a:lstStyle/>
          <a:p>
            <a:pPr algn="ctr">
              <a:defRPr sz="1000" b="1">
                <a:solidFill>
                  <a:srgbClr val="38BDF8"/>
                </a:solidFill>
                <a:latin typeface="Segoe UI"/>
              </a:defRPr>
            </a:pPr>
            <a:r>
              <a:t>SLIDE 6 OF 7  |  CLEAR, NON-OVERLAPPING ARCHITECTURE PARTITIONING</a:t>
            </a:r>
          </a:p>
          <a:p>
            <a:pPr>
              <a:defRPr sz="2100" b="1">
                <a:solidFill>
                  <a:srgbClr val="FFFFFF"/>
                </a:solidFill>
                <a:latin typeface="Segoe UI"/>
              </a:defRPr>
            </a:pPr>
            <a:r>
              <a:t>Team Member Responsibilities &amp; Work Packages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347472"/>
            <a:ext cx="3108960" cy="777240"/>
          </a:xfrm>
          <a:prstGeom prst="rect">
            <a:avLst/>
          </a:prstGeom>
          <a:noFill/>
        </p:spPr>
        <p:txBody>
          <a:bodyPr wrap="square" tIns="73152" rIns="182880">
            <a:spAutoFit/>
          </a:bodyPr>
          <a:lstStyle/>
          <a:p>
            <a:pPr algn="r">
              <a:defRPr sz="1100" b="1">
                <a:solidFill>
                  <a:srgbClr val="FBBF24"/>
                </a:solidFill>
                <a:latin typeface="Segoe UI"/>
              </a:defRPr>
            </a:pPr>
            <a:r>
              <a:t>GROUP 21  |  IIT GUWAHATI</a:t>
            </a:r>
          </a:p>
          <a:p>
            <a:pPr algn="r">
              <a:defRPr sz="950">
                <a:solidFill>
                  <a:srgbClr val="94A3B8"/>
                </a:solidFill>
                <a:latin typeface="Segoe UI"/>
              </a:defRPr>
            </a:pPr>
            <a:r>
              <a:t>Digilent Nexys A7-100T (XC7A100T)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98448"/>
          <a:ext cx="11277295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926080"/>
                <a:gridCol w="4053535"/>
                <a:gridCol w="2651760"/>
              </a:tblGrid>
              <a:tr h="731520">
                <a:tc>
                  <a:txBody>
                    <a:bodyPr wrap="square" lIns="137160" rIns="137160" tIns="109728" bIns="109728"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Member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wrap="square" lIns="137160" rIns="137160" tIns="109728" bIns="109728"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Module Responsibility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wrap="square" lIns="137160" rIns="137160" tIns="109728" bIns="109728"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Key Architectural Deliverables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wrap="square" lIns="137160" rIns="137160" tIns="109728" bIns="109728"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Verification Focus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31520">
                <a:tc>
                  <a:txBody>
                    <a:bodyPr wrap="square" lIns="137160" rIns="137160" tIns="73152" bIns="73152"/>
                    <a:lstStyle/>
                    <a:p>
                      <a:pPr>
                        <a:defRPr sz="1200" b="1">
                          <a:solidFill>
                            <a:srgbClr val="1E40AF"/>
                          </a:solidFill>
                          <a:latin typeface="Segoe UI"/>
                        </a:defRPr>
                      </a:pPr>
                      <a:r>
                        <a:t>Rohit</a:t>
                      </a:r>
                      <a:br/>
                      <a:r>
                        <a:t>(Lead)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37160" rIns="137160" tIns="73152" bIns="73152"/>
                    <a:lstStyle/>
                    <a:p>
                      <a:pPr>
                        <a:defRPr sz="1200" b="1">
                          <a:solidFill>
                            <a:srgbClr val="1E40AF"/>
                          </a:solidFill>
                          <a:latin typeface="Segoe UI"/>
                        </a:defRPr>
                      </a:pPr>
                      <a:r>
                        <a:t>Core Pipeline, Hazards &amp; Full SoC Integration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37160" rIns="137160" tIns="73152" bIns="73152"/>
                    <a:lstStyle/>
                    <a:p>
                      <a:pPr>
                        <a:defRPr sz="12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RV32I 3-stage core RTL (riscv_core.v), Hazard Unit forwarding logic, branch evaluation, top SoC assembly.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37160" rIns="137160" tIns="73152" bIns="73152"/>
                    <a:lstStyle/>
                    <a:p>
                      <a:pPr>
                        <a:defRPr sz="12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RAW hazard forwarding, branch flush, MMIO routing (tb_autovision_soc.v)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 lIns="137160" rIns="137160" tIns="73152" bIns="73152"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Prakhar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137160" rIns="137160" tIns="73152" bIns="73152"/>
                    <a:lstStyle/>
                    <a:p>
                      <a:pPr>
                        <a:defRPr sz="1200" b="1">
                          <a:solidFill>
                            <a:srgbClr val="1E40AF"/>
                          </a:solidFill>
                          <a:latin typeface="Segoe UI"/>
                        </a:defRPr>
                      </a:pPr>
                      <a:r>
                        <a:t>DSP Multiplier Coprocessor &amp; Unit Testbench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137160" rIns="137160" tIns="73152" bIns="73152"/>
                    <a:lstStyle/>
                    <a:p>
                      <a:pPr>
                        <a:defRPr sz="12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Single-cycle 64-bit DSP array multiplier leveraging Artix-7 DSP48E1 slices (multiplier.v), standalone testbench.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137160" rIns="137160" tIns="73152" bIns="73152"/>
                    <a:lstStyle/>
                    <a:p>
                      <a:pPr>
                        <a:defRPr sz="12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Bit-exact 64-bit precision, signed/unsigned MUL/MULH (tb_multiplier.v)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31520">
                <a:tc>
                  <a:txBody>
                    <a:bodyPr wrap="square" lIns="137160" rIns="137160" tIns="73152" bIns="73152"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Sajan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37160" rIns="137160" tIns="73152" bIns="73152"/>
                    <a:lstStyle/>
                    <a:p>
                      <a:pPr>
                        <a:defRPr sz="1200" b="1">
                          <a:solidFill>
                            <a:srgbClr val="1E40AF"/>
                          </a:solidFill>
                          <a:latin typeface="Segoe UI"/>
                        </a:defRPr>
                      </a:pPr>
                      <a:r>
                        <a:t>Non-Restoring Divider FSM &amp; Security Cipher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37160" rIns="137160" tIns="73152" bIns="73152"/>
                    <a:lstStyle/>
                    <a:p>
                      <a:pPr>
                        <a:defRPr sz="12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32-bit non-restoring shift-subtract divider FSM (&lt;= 34 cyc, divider.v), 16-bit Galois LFSR cipher, Vivado P&amp;R.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37160" rIns="137160" tIns="73152" bIns="73152"/>
                    <a:lstStyle/>
                    <a:p>
                      <a:pPr>
                        <a:defRPr sz="12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Divide-by-zero bypass (x/0 = -1), multi-cycle stall handshake, P&amp;R closure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 lIns="137160" rIns="137160" tIns="73152" bIns="73152"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Rishabh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137160" rIns="137160" tIns="73152" bIns="73152"/>
                    <a:lstStyle/>
                    <a:p>
                      <a:pPr>
                        <a:defRPr sz="1200" b="1">
                          <a:solidFill>
                            <a:srgbClr val="1E40AF"/>
                          </a:solidFill>
                          <a:latin typeface="Segoe UI"/>
                        </a:defRPr>
                      </a:pPr>
                      <a:r>
                        <a:t>2D Spatial Convolution Hardware Engine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137160" rIns="137160" tIns="73152" bIns="73152"/>
                    <a:lstStyle/>
                    <a:p>
                      <a:pPr>
                        <a:defRPr sz="12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Dual circular BRAM line buffers (320 B, line_buffer.v), 9-MAC parallel Sobel/Gaussian convolver (conv2d_engine.v).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137160" rIns="137160" tIns="73152" bIns="73152"/>
                    <a:lstStyle/>
                    <a:p>
                      <a:pPr>
                        <a:defRPr sz="12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1 px/cyc streaming throughput, line buffer boundary clipping (tb_conv2d.v)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31520">
                <a:tc>
                  <a:txBody>
                    <a:bodyPr wrap="square" lIns="137160" rIns="137160" tIns="73152" bIns="73152"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Sarthak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37160" rIns="137160" tIns="73152" bIns="73152"/>
                    <a:lstStyle/>
                    <a:p>
                      <a:pPr>
                        <a:defRPr sz="1200" b="1">
                          <a:solidFill>
                            <a:srgbClr val="1E40AF"/>
                          </a:solidFill>
                          <a:latin typeface="Segoe UI"/>
                        </a:defRPr>
                      </a:pPr>
                      <a:r>
                        <a:t>Video Subsystem, Compositor &amp; Edge-AI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37160" rIns="137160" tIns="73152" bIns="73152"/>
                    <a:lstStyle/>
                    <a:p>
                      <a:pPr>
                        <a:defRPr sz="12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Dual-port video BRAM (19.2 KB, frame_buffer.v), 640x480 VGA controller, split-screen HUD, Edge-AI sign classifier.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37160" rIns="137160" tIns="73152" bIns="73152"/>
                    <a:lstStyle/>
                    <a:p>
                      <a:pPr>
                        <a:defRPr sz="12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Dual-clock domain timing, 60 Hz sync, sub-frame (&lt;16.6 ms) AEB trip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 lIns="137160" rIns="137160" tIns="73152" bIns="73152"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All Members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137160" rIns="137160" tIns="73152" bIns="73152"/>
                    <a:lstStyle/>
                    <a:p>
                      <a:pPr>
                        <a:defRPr sz="1200" b="1">
                          <a:solidFill>
                            <a:srgbClr val="1E40AF"/>
                          </a:solidFill>
                          <a:latin typeface="Segoe UI"/>
                        </a:defRPr>
                      </a:pPr>
                      <a:r>
                        <a:t>System Integration, Board Demo &amp; Telemetry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137160" rIns="137160" tIns="73152" bIns="73152"/>
                    <a:lstStyle/>
                    <a:p>
                      <a:pPr>
                        <a:defRPr sz="12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Physical Nexys A7 FPGA bitstream flashing, Host PC UART streaming bridge, 7-segment display, emergency brake demo.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137160" rIns="137160" tIns="73152" bIns="73152"/>
                    <a:lstStyle/>
                    <a:p>
                      <a:pPr>
                        <a:defRPr sz="12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End-to-end hardware demo validation, live fault injection, final slides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 rIns="274320" bIns="73152"/>
          <a:lstStyle/>
          <a:p>
            <a:pPr algn="ctr">
              <a:defRPr sz="1000" b="1">
                <a:solidFill>
                  <a:srgbClr val="38BDF8"/>
                </a:solidFill>
                <a:latin typeface="Segoe UI"/>
              </a:defRPr>
            </a:pPr>
            <a:r>
              <a:t>SLIDE 7 OF 7  |  END-TO-END VALIDATION (INPUT -&gt; PROCESSING -&gt; OUTPUT) &amp; RISK MITIGATION</a:t>
            </a:r>
          </a:p>
          <a:p>
            <a:pPr>
              <a:defRPr sz="2100" b="1">
                <a:solidFill>
                  <a:srgbClr val="FFFFFF"/>
                </a:solidFill>
                <a:latin typeface="Segoe UI"/>
              </a:defRPr>
            </a:pPr>
            <a:r>
              <a:t>Physical FPGA Demonstration Plan &amp; Technical 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347472"/>
            <a:ext cx="3108960" cy="777240"/>
          </a:xfrm>
          <a:prstGeom prst="rect">
            <a:avLst/>
          </a:prstGeom>
          <a:noFill/>
        </p:spPr>
        <p:txBody>
          <a:bodyPr wrap="square" tIns="73152" rIns="182880">
            <a:spAutoFit/>
          </a:bodyPr>
          <a:lstStyle/>
          <a:p>
            <a:pPr algn="r">
              <a:defRPr sz="1100" b="1">
                <a:solidFill>
                  <a:srgbClr val="FBBF24"/>
                </a:solidFill>
                <a:latin typeface="Segoe UI"/>
              </a:defRPr>
            </a:pPr>
            <a:r>
              <a:t>GROUP 21  |  IIT GUWAHATI</a:t>
            </a:r>
          </a:p>
          <a:p>
            <a:pPr algn="r">
              <a:defRPr sz="950">
                <a:solidFill>
                  <a:srgbClr val="94A3B8"/>
                </a:solidFill>
                <a:latin typeface="Segoe UI"/>
              </a:defRPr>
            </a:pPr>
            <a:r>
              <a:t>Digilent Nexys A7-100T (XC7A100T)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98448"/>
            <a:ext cx="5486400" cy="5212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594360" rIns="228600"/>
          <a:lstStyle/>
          <a:p>
            <a:pPr algn="l">
              <a:spcAft>
                <a:spcPts val="800"/>
              </a:spcAft>
              <a:defRPr sz="1350">
                <a:latin typeface="Segoe UI"/>
              </a:defRPr>
            </a:pPr>
            <a:r>
              <a:rPr b="1" sz="1350">
                <a:solidFill>
                  <a:srgbClr val="059669"/>
                </a:solidFill>
              </a:rPr>
              <a:t>1. Input Stream (Host PC) </a:t>
            </a:r>
            <a:r>
              <a:rPr b="0" sz="1350">
                <a:solidFill>
                  <a:srgbClr val="334155"/>
                </a:solidFill>
              </a:rPr>
              <a:t>Host PC streams real driving scene frames (160x120 grayscale = 19,200 B/frame) via USB-UART at 115,200 baud.</a:t>
            </a:r>
          </a:p>
          <a:p>
            <a:pPr algn="l">
              <a:spcAft>
                <a:spcPts val="800"/>
              </a:spcAft>
              <a:defRPr sz="1350">
                <a:latin typeface="Segoe UI"/>
              </a:defRPr>
            </a:pPr>
            <a:r>
              <a:rPr b="1" sz="1350">
                <a:solidFill>
                  <a:srgbClr val="059669"/>
                </a:solidFill>
              </a:rPr>
              <a:t>2. Processing (Nexys A7) </a:t>
            </a:r>
            <a:r>
              <a:rPr b="0" sz="1350">
                <a:solidFill>
                  <a:srgbClr val="334155"/>
                </a:solidFill>
              </a:rPr>
              <a:t>• LFSR cipher descrambles encrypted video stream.
• Circular line buffers stream pixels to 9-MAC Conv2D engine (1 px/cyc).
• Edge-AI classifier categorizes sign geometry (STOP, YIELD, SPEED) in &lt;16.6 ms.</a:t>
            </a:r>
          </a:p>
          <a:p>
            <a:pPr algn="l">
              <a:spcAft>
                <a:spcPts val="0"/>
              </a:spcAft>
              <a:defRPr sz="1350">
                <a:latin typeface="Segoe UI"/>
              </a:defRPr>
            </a:pPr>
            <a:r>
              <a:rPr b="1" sz="1350">
                <a:solidFill>
                  <a:srgbClr val="059669"/>
                </a:solidFill>
              </a:rPr>
              <a:t>3. Physical FPGA Outputs </a:t>
            </a:r>
            <a:r>
              <a:rPr b="0" sz="1350">
                <a:solidFill>
                  <a:srgbClr val="334155"/>
                </a:solidFill>
              </a:rPr>
              <a:t>Visible outputs verified live on board:
• VGA Monitor (640x480): Real-time split-screen (raw camera on left, Sobel edges on right).
• Tri-Color RGB LED: Instant RED illumination on AEB emergency brake trip (STOP sign).
• 7-Segment Display: Displays active sign ID &amp; recognized speed limit.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5120640" cy="347472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ctr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DEMONSTRATION PLAN (INPUT -&gt; PROCESSING -&gt; OUTPUT)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5352" y="1298448"/>
            <a:ext cx="5486400" cy="5212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594360" rIns="228600"/>
          <a:lstStyle/>
          <a:p>
            <a:pPr algn="l">
              <a:spcAft>
                <a:spcPts val="800"/>
              </a:spcAft>
              <a:defRPr sz="1350">
                <a:latin typeface="Segoe UI"/>
              </a:defRPr>
            </a:pPr>
            <a:r>
              <a:rPr b="1" sz="1350">
                <a:solidFill>
                  <a:srgbClr val="DC2626"/>
                </a:solidFill>
              </a:rPr>
              <a:t>1. Multi-Cycle Division Stalls </a:t>
            </a:r>
            <a:r>
              <a:rPr b="0" sz="1350">
                <a:solidFill>
                  <a:srgbClr val="334155"/>
                </a:solidFill>
              </a:rPr>
              <a:t>Synchronous clock enable gating freezes PC &amp; IF/ID registers during &lt;=34 cycle division without corrupting pipeline state.</a:t>
            </a:r>
          </a:p>
          <a:p>
            <a:pPr algn="l">
              <a:spcAft>
                <a:spcPts val="800"/>
              </a:spcAft>
              <a:defRPr sz="1350">
                <a:latin typeface="Segoe UI"/>
              </a:defRPr>
            </a:pPr>
            <a:r>
              <a:rPr b="1" sz="1350">
                <a:solidFill>
                  <a:srgbClr val="DC2626"/>
                </a:solidFill>
              </a:rPr>
              <a:t>2. Arithmetic Edge Cases </a:t>
            </a:r>
            <a:r>
              <a:rPr b="0" sz="1350">
                <a:solidFill>
                  <a:srgbClr val="334155"/>
                </a:solidFill>
              </a:rPr>
              <a:t>Combinational bypass comparators handle divide-by-zero (x/0 = -1) and signed overflow (-2^31 / -1) without stall penalty.</a:t>
            </a:r>
          </a:p>
          <a:p>
            <a:pPr algn="l">
              <a:spcAft>
                <a:spcPts val="800"/>
              </a:spcAft>
              <a:defRPr sz="1350">
                <a:latin typeface="Segoe UI"/>
              </a:defRPr>
            </a:pPr>
            <a:r>
              <a:rPr b="1" sz="1350">
                <a:solidFill>
                  <a:srgbClr val="DC2626"/>
                </a:solidFill>
              </a:rPr>
              <a:t>3. Dual-Clock Domain Video </a:t>
            </a:r>
            <a:r>
              <a:rPr b="0" sz="1350">
                <a:solidFill>
                  <a:srgbClr val="334155"/>
                </a:solidFill>
              </a:rPr>
              <a:t>True dual-port Block RAM decouples 50 MHz processor writes from 25 MHz VGA raster scan reads, preventing video tearing.</a:t>
            </a:r>
          </a:p>
          <a:p>
            <a:pPr algn="l">
              <a:spcAft>
                <a:spcPts val="0"/>
              </a:spcAft>
              <a:defRPr sz="1350">
                <a:latin typeface="Segoe UI"/>
              </a:defRPr>
            </a:pPr>
            <a:r>
              <a:rPr b="1" sz="1350">
                <a:solidFill>
                  <a:srgbClr val="DC2626"/>
                </a:solidFill>
              </a:rPr>
              <a:t>4. FPGA Timing Closure (50 MHz) </a:t>
            </a:r>
            <a:r>
              <a:rPr b="0" sz="1350">
                <a:solidFill>
                  <a:srgbClr val="334155"/>
                </a:solidFill>
              </a:rPr>
              <a:t>Registering MMIO crossbar and DSP multiplier paths achieves +2.410 ns setup slack on Artix-7 (zero timing violations).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28232" y="1417320"/>
            <a:ext cx="5120640" cy="347472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TECHNICAL CHALLENGES &amp; MITIGATION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